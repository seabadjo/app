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0" d="100"/>
          <a:sy n="60" d="100"/>
        </p:scale>
        <p:origin x="9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997718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3700406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633609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7B2FE97-358D-4902-B3EC-5732CA5D609E}" type="datetimeFigureOut">
              <a:rPr lang="fr-FR" smtClean="0"/>
              <a:t>20/08/2024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417707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7B2FE97-358D-4902-B3EC-5732CA5D609E}" type="datetimeFigureOut">
              <a:rPr lang="fr-FR" smtClean="0"/>
              <a:t>20/08/2024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860622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7B2FE97-358D-4902-B3EC-5732CA5D609E}" type="datetimeFigureOut">
              <a:rPr lang="fr-FR" smtClean="0"/>
              <a:t>20/08/2024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744272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7B2FE97-358D-4902-B3EC-5732CA5D609E}" type="datetimeFigureOut">
              <a:rPr lang="fr-FR" smtClean="0"/>
              <a:t>20/08/2024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2567379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7B2FE97-358D-4902-B3EC-5732CA5D609E}" type="datetimeFigureOut">
              <a:rPr lang="fr-FR" smtClean="0"/>
              <a:t>20/08/2024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2429993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7B2FE97-358D-4902-B3EC-5732CA5D609E}" type="datetimeFigureOut">
              <a:rPr lang="fr-FR" smtClean="0"/>
              <a:t>20/08/2024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307745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3562695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65C175-493F-4485-8FFE-E8D6377554B0}" type="slidenum">
              <a:rPr lang="fr-FR" smtClean="0"/>
              <a:t>‹N°›</a:t>
            </a:fld>
            <a:endParaRPr lang="fr-FR"/>
          </a:p>
        </p:txBody>
      </p:sp>
    </p:spTree>
    <p:extLst>
      <p:ext uri="{BB962C8B-B14F-4D97-AF65-F5344CB8AC3E}">
        <p14:creationId xmlns:p14="http://schemas.microsoft.com/office/powerpoint/2010/main" val="1469064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B2FE97-358D-4902-B3EC-5732CA5D609E}" type="datetimeFigureOut">
              <a:rPr lang="fr-FR" smtClean="0"/>
              <a:t>20/08/2024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65C175-493F-4485-8FFE-E8D6377554B0}" type="slidenum">
              <a:rPr lang="fr-FR" smtClean="0"/>
              <a:t>‹N°›</a:t>
            </a:fld>
            <a:endParaRPr lang="fr-FR"/>
          </a:p>
        </p:txBody>
      </p:sp>
    </p:spTree>
    <p:extLst>
      <p:ext uri="{BB962C8B-B14F-4D97-AF65-F5344CB8AC3E}">
        <p14:creationId xmlns:p14="http://schemas.microsoft.com/office/powerpoint/2010/main" val="268607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7.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8.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9.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5"/>
            <a:ext cx="563586" cy="631065"/>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05659"/>
            <a:ext cx="563586" cy="631065"/>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à coins arrondis 17"/>
          <p:cNvSpPr/>
          <p:nvPr/>
        </p:nvSpPr>
        <p:spPr>
          <a:xfrm>
            <a:off x="2821089" y="2957520"/>
            <a:ext cx="7199291" cy="1481391"/>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t>LES 08 CODES D’ETHIQUE DE L’AYCM/JAAC</a:t>
            </a:r>
          </a:p>
        </p:txBody>
      </p:sp>
      <p:sp>
        <p:nvSpPr>
          <p:cNvPr id="19" name="Rectangle 18"/>
          <p:cNvSpPr/>
          <p:nvPr/>
        </p:nvSpPr>
        <p:spPr>
          <a:xfrm>
            <a:off x="3351796" y="5165500"/>
            <a:ext cx="6137875" cy="523220"/>
          </a:xfrm>
          <a:prstGeom prst="rect">
            <a:avLst/>
          </a:prstGeom>
        </p:spPr>
        <p:txBody>
          <a:bodyPr wrap="square">
            <a:spAutoFit/>
          </a:bodyPr>
          <a:lstStyle/>
          <a:p>
            <a:r>
              <a:rPr lang="fr-FR" sz="1400" b="1" dirty="0">
                <a:latin typeface="Times New Roman" panose="02020603050405020304" pitchFamily="18" charset="0"/>
                <a:cs typeface="Times New Roman" panose="02020603050405020304" pitchFamily="18" charset="0"/>
              </a:rPr>
              <a:t>NOUS SOMMES UNE ASSOCIATION ORIENTEE VERS LE FUTUR</a:t>
            </a:r>
          </a:p>
          <a:p>
            <a:endParaRPr lang="fr-FR" sz="1400" b="1" dirty="0">
              <a:latin typeface="Times New Roman" panose="02020603050405020304" pitchFamily="18" charset="0"/>
              <a:cs typeface="Times New Roman" panose="02020603050405020304" pitchFamily="18" charset="0"/>
            </a:endParaRPr>
          </a:p>
        </p:txBody>
      </p:sp>
      <p:sp>
        <p:nvSpPr>
          <p:cNvPr id="20" name="Rectangle 19"/>
          <p:cNvSpPr/>
          <p:nvPr/>
        </p:nvSpPr>
        <p:spPr>
          <a:xfrm>
            <a:off x="2311734" y="5963419"/>
            <a:ext cx="7720330" cy="284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900" b="1">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t>
            </a:r>
            <a:endParaRPr lang="fr-FR" sz="1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1226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61040" y="-3091294"/>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6206470" y="2882191"/>
            <a:ext cx="4195422" cy="2408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latin typeface="Times New Roman" panose="02020603050405020304" pitchFamily="18" charset="0"/>
                <a:cs typeface="Times New Roman" panose="02020603050405020304" pitchFamily="18" charset="0"/>
              </a:rPr>
              <a:t>Faire preuve de professionnalisme pour AYCM est de prime abord de respecter les codes d’éthique  qu’elle s’est donné.</a:t>
            </a:r>
          </a:p>
          <a:p>
            <a:r>
              <a:rPr lang="fr-FR" sz="1400" b="1" dirty="0">
                <a:solidFill>
                  <a:schemeClr val="tx1"/>
                </a:solidFill>
                <a:latin typeface="Times New Roman" panose="02020603050405020304" pitchFamily="18" charset="0"/>
                <a:cs typeface="Times New Roman" panose="02020603050405020304" pitchFamily="18" charset="0"/>
              </a:rPr>
              <a:t>Ces codes d’éthiques ne sauraient être en déphasage avec les objectifs sans délaisser aucun. C’est donc un point de départ pour une mission  qui se veut à la fois rigoureuse mais aussi et surtout bien fait.</a:t>
            </a: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0183" y="2113501"/>
            <a:ext cx="3753754" cy="36025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1" name="Rectangle 20"/>
          <p:cNvSpPr/>
          <p:nvPr/>
        </p:nvSpPr>
        <p:spPr>
          <a:xfrm>
            <a:off x="6245526" y="2960823"/>
            <a:ext cx="2306214"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PROFESSIONALISME</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275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5699976" y="3728721"/>
            <a:ext cx="4330955" cy="954107"/>
          </a:xfrm>
          <a:prstGeom prst="rect">
            <a:avLst/>
          </a:prstGeom>
        </p:spPr>
        <p:txBody>
          <a:bodyPr wrap="square">
            <a:spAutoFit/>
          </a:bodyPr>
          <a:lstStyle/>
          <a:p>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C’est dans un esprit de fermenté que AYCM se dote du code d’éthique, la détermination qui pour elle, est le carburant nécessaire pour le séjour sur le grand chantier du militantisme au sein des associations.</a:t>
            </a:r>
            <a:endParaRPr lang="fr-FR" sz="14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3710" y="2399252"/>
            <a:ext cx="3195569" cy="35163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1" name="Rectangle 20"/>
          <p:cNvSpPr/>
          <p:nvPr/>
        </p:nvSpPr>
        <p:spPr>
          <a:xfrm>
            <a:off x="5715493" y="3429000"/>
            <a:ext cx="1972512"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DETERMINATION</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498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18" name="Rectangle 17"/>
          <p:cNvSpPr/>
          <p:nvPr/>
        </p:nvSpPr>
        <p:spPr>
          <a:xfrm>
            <a:off x="5918556" y="3757145"/>
            <a:ext cx="4337034" cy="1169551"/>
          </a:xfrm>
          <a:prstGeom prst="rect">
            <a:avLst/>
          </a:prstGeom>
        </p:spPr>
        <p:txBody>
          <a:bodyPr wrap="square">
            <a:spAutoFit/>
          </a:bodyPr>
          <a:lstStyle/>
          <a:p>
            <a:r>
              <a:rPr lang="fr-FR" sz="1400" b="1" dirty="0">
                <a:latin typeface="Times New Roman" panose="02020603050405020304" pitchFamily="18" charset="0"/>
                <a:cs typeface="Times New Roman" panose="02020603050405020304" pitchFamily="18" charset="0"/>
              </a:rPr>
              <a:t>Parler d’engagement sous la trajectoire observatrice d’AYCM est de révéler le caractère sans détour d’une personne qui entre en mission. Une mission périlleuse parfois, mais qui canalise toute l’attention de l’exécutant ; le militant de AYCM. </a:t>
            </a:r>
          </a:p>
        </p:txBody>
      </p:sp>
      <p:pic>
        <p:nvPicPr>
          <p:cNvPr id="21" name="Imag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4800" y="2424186"/>
            <a:ext cx="3325199" cy="34696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3" name="Rectangle 22"/>
          <p:cNvSpPr/>
          <p:nvPr/>
        </p:nvSpPr>
        <p:spPr>
          <a:xfrm>
            <a:off x="5932532" y="3474018"/>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ENGAGEMENT</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4085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18" name="Rectangle 17"/>
          <p:cNvSpPr/>
          <p:nvPr/>
        </p:nvSpPr>
        <p:spPr>
          <a:xfrm>
            <a:off x="5806410" y="3546050"/>
            <a:ext cx="4717961" cy="1244893"/>
          </a:xfrm>
          <a:prstGeom prst="rect">
            <a:avLst/>
          </a:prstGeom>
        </p:spPr>
        <p:txBody>
          <a:bodyPr wrap="square">
            <a:spAutoFit/>
          </a:bodyPr>
          <a:lstStyle/>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Si tendre l’oreille  faire office d’écouter, à AYCM, il va falloir écouter au-delà d’une simple écoute, être corps et esprit impliqué  lors des formations, séance informative, activité, etc. . Comme  pour dire que le militant d’AYCM   ne doit être satisfait que si son N+1 se sent dans son écoute.</a:t>
            </a:r>
          </a:p>
        </p:txBody>
      </p:sp>
      <p:sp>
        <p:nvSpPr>
          <p:cNvPr id="21" name="Rectangle 20"/>
          <p:cNvSpPr/>
          <p:nvPr/>
        </p:nvSpPr>
        <p:spPr>
          <a:xfrm>
            <a:off x="5781504" y="3286957"/>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ECOUTE</a:t>
            </a:r>
          </a:p>
          <a:p>
            <a:endParaRPr lang="fr-FR" sz="1400" b="1" dirty="0">
              <a:latin typeface="Times New Roman" panose="02020603050405020304" pitchFamily="18" charset="0"/>
              <a:cs typeface="Times New Roman" panose="02020603050405020304" pitchFamily="18" charset="0"/>
            </a:endParaRPr>
          </a:p>
        </p:txBody>
      </p:sp>
      <p:pic>
        <p:nvPicPr>
          <p:cNvPr id="22" name="Imag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9704" y="2432365"/>
            <a:ext cx="3148250" cy="3331538"/>
          </a:xfrm>
          <a:prstGeom prst="roundRect">
            <a:avLst>
              <a:gd name="adj" fmla="val 8594"/>
            </a:avLst>
          </a:prstGeom>
          <a:solidFill>
            <a:srgbClr val="FFFFFF">
              <a:shade val="85000"/>
            </a:srgbClr>
          </a:solidFill>
          <a:ln>
            <a:solidFill>
              <a:schemeClr val="accent6">
                <a:lumMod val="50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3500299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5038370" y="3443599"/>
            <a:ext cx="5757191" cy="2039020"/>
          </a:xfrm>
          <a:prstGeom prst="rect">
            <a:avLst/>
          </a:prstGeom>
        </p:spPr>
        <p:txBody>
          <a:bodyPr wrap="square">
            <a:spAutoFit/>
          </a:bodyPr>
          <a:lstStyle/>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Si le mot fidélité se prête à plusieurs angles d’appréciation, pour AYCM, ils sont  bien connus. Ainsi , la fidélité dont il est question s’articulera essentiellement  autour des points tels  que : </a:t>
            </a:r>
          </a:p>
          <a:p>
            <a:pPr marL="342900" lvl="0" indent="-342900">
              <a:lnSpc>
                <a:spcPct val="107000"/>
              </a:lnSpc>
              <a:spcAft>
                <a:spcPts val="0"/>
              </a:spcAft>
              <a:buFont typeface="Symbol" panose="05050102010706020507" pitchFamily="18" charset="2"/>
              <a:buChar char=""/>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Engagement  à </a:t>
            </a:r>
            <a:r>
              <a:rPr lang="fr-FR" sz="1400" b="1" dirty="0">
                <a:latin typeface="Times New Roman" panose="02020603050405020304" pitchFamily="18" charset="0"/>
                <a:ea typeface="Calibri" panose="020F0502020204030204" pitchFamily="34" charset="0"/>
                <a:cs typeface="Times New Roman" panose="02020603050405020304" pitchFamily="18" charset="0"/>
              </a:rPr>
              <a:t>ê</a:t>
            </a: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tre fidèle </a:t>
            </a:r>
            <a:r>
              <a:rPr lang="fr-FR" sz="1400" b="1" dirty="0">
                <a:latin typeface="Times New Roman" panose="02020603050405020304" pitchFamily="18" charset="0"/>
                <a:ea typeface="Calibri" panose="020F0502020204030204" pitchFamily="34" charset="0"/>
                <a:cs typeface="Times New Roman" panose="02020603050405020304" pitchFamily="18" charset="0"/>
              </a:rPr>
              <a:t>à</a:t>
            </a: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 AYCM</a:t>
            </a:r>
          </a:p>
          <a:p>
            <a:pPr marL="342900" lvl="0" indent="-342900">
              <a:lnSpc>
                <a:spcPct val="107000"/>
              </a:lnSpc>
              <a:spcAft>
                <a:spcPts val="0"/>
              </a:spcAft>
              <a:buFont typeface="Symbol" panose="05050102010706020507" pitchFamily="18" charset="2"/>
              <a:buChar char=""/>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 Respect de sa parole donnée </a:t>
            </a:r>
          </a:p>
          <a:p>
            <a:pPr marL="342900" lvl="0" indent="-342900">
              <a:lnSpc>
                <a:spcPct val="107000"/>
              </a:lnSpc>
              <a:spcAft>
                <a:spcPts val="0"/>
              </a:spcAft>
              <a:buFont typeface="Symbol" panose="05050102010706020507" pitchFamily="18" charset="2"/>
              <a:buChar char=""/>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Communiquer sur ces prises de decisions concernant AYCM avant application</a:t>
            </a:r>
          </a:p>
          <a:p>
            <a:pPr marL="342900" lvl="0" indent="-342900">
              <a:lnSpc>
                <a:spcPct val="107000"/>
              </a:lnSpc>
              <a:spcAft>
                <a:spcPts val="800"/>
              </a:spcAft>
              <a:buFont typeface="Symbol" panose="05050102010706020507" pitchFamily="18" charset="2"/>
              <a:buChar char=""/>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Respect des objectifs communs que nous nous sommes fixés</a:t>
            </a: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6166" y="2833367"/>
            <a:ext cx="2634005" cy="3018040"/>
          </a:xfrm>
          <a:prstGeom prst="roundRect">
            <a:avLst>
              <a:gd name="adj" fmla="val 8594"/>
            </a:avLst>
          </a:prstGeom>
          <a:solidFill>
            <a:srgbClr val="FFFFFF">
              <a:shade val="85000"/>
            </a:srgbClr>
          </a:solidFill>
          <a:ln>
            <a:solidFill>
              <a:schemeClr val="accent6">
                <a:lumMod val="50000"/>
              </a:schemeClr>
            </a:solidFill>
          </a:ln>
          <a:effectLst>
            <a:reflection blurRad="12700" stA="38000" endPos="28000" dist="5000" dir="5400000" sy="-100000" algn="bl" rotWithShape="0"/>
          </a:effectLst>
        </p:spPr>
      </p:pic>
      <p:sp>
        <p:nvSpPr>
          <p:cNvPr id="21" name="Rectangle 20"/>
          <p:cNvSpPr/>
          <p:nvPr/>
        </p:nvSpPr>
        <p:spPr>
          <a:xfrm>
            <a:off x="5038908" y="3191497"/>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FIDELITE</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990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6031209" y="3753183"/>
            <a:ext cx="4211074" cy="1459951"/>
          </a:xfrm>
          <a:prstGeom prst="rect">
            <a:avLst/>
          </a:prstGeom>
        </p:spPr>
        <p:txBody>
          <a:bodyPr wrap="square">
            <a:spAutoFit/>
          </a:bodyPr>
          <a:lstStyle/>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Tous les membres de AYCM  ont les mêmes droits et devoirs quelque soit le genre ,  la position sociale , économique et le bagage intellectuel.  Mieux , respecter l’autre malgré la difference et lui donner la place qu’il mérite  est d’une importance capitale  pour un AYCM plus fort. </a:t>
            </a: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6304" y="2304314"/>
            <a:ext cx="3501519" cy="3645726"/>
          </a:xfrm>
          <a:prstGeom prst="roundRect">
            <a:avLst>
              <a:gd name="adj" fmla="val 8594"/>
            </a:avLst>
          </a:prstGeom>
          <a:solidFill>
            <a:srgbClr val="FFFFFF">
              <a:shade val="85000"/>
            </a:srgbClr>
          </a:solidFill>
          <a:ln>
            <a:solidFill>
              <a:schemeClr val="accent6">
                <a:lumMod val="50000"/>
              </a:schemeClr>
            </a:solidFill>
          </a:ln>
          <a:effectLst>
            <a:reflection blurRad="12700" stA="38000" endPos="28000" dist="5000" dir="5400000" sy="-100000" algn="bl" rotWithShape="0"/>
          </a:effectLst>
        </p:spPr>
      </p:pic>
      <p:sp>
        <p:nvSpPr>
          <p:cNvPr id="21" name="Rectangle 20"/>
          <p:cNvSpPr/>
          <p:nvPr/>
        </p:nvSpPr>
        <p:spPr>
          <a:xfrm>
            <a:off x="6031209" y="3491573"/>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EGALITE</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352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5646203" y="3836662"/>
            <a:ext cx="4040019" cy="1229439"/>
          </a:xfrm>
          <a:prstGeom prst="rect">
            <a:avLst/>
          </a:prstGeom>
        </p:spPr>
        <p:txBody>
          <a:bodyPr wrap="square">
            <a:spAutoFit/>
          </a:bodyPr>
          <a:lstStyle/>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Pour AYCM, le respect peinerait à se coroborer de tout son sens  s’il ne reflète pas un sentiment de considération accru envers l’autre, malgré notre intelligence  ,notre savoir, notre position social, nos relations…</a:t>
            </a:r>
            <a:r>
              <a:rPr lang="fr-FR" sz="1400" b="1" dirty="0" err="1">
                <a:effectLst/>
                <a:latin typeface="Times New Roman" panose="02020603050405020304" pitchFamily="18" charset="0"/>
                <a:ea typeface="Calibri" panose="020F0502020204030204" pitchFamily="34" charset="0"/>
                <a:cs typeface="Times New Roman" panose="02020603050405020304" pitchFamily="18" charset="0"/>
              </a:rPr>
              <a:t>etc</a:t>
            </a:r>
            <a:endParaRPr lang="fr-FR" sz="1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3886" y="2897747"/>
            <a:ext cx="2794691" cy="2669578"/>
          </a:xfrm>
          <a:prstGeom prst="roundRect">
            <a:avLst>
              <a:gd name="adj" fmla="val 8594"/>
            </a:avLst>
          </a:prstGeom>
          <a:solidFill>
            <a:srgbClr val="FFFFFF">
              <a:shade val="85000"/>
            </a:srgbClr>
          </a:solidFill>
          <a:ln>
            <a:solidFill>
              <a:schemeClr val="accent6">
                <a:lumMod val="50000"/>
              </a:schemeClr>
            </a:solidFill>
          </a:ln>
          <a:effectLst>
            <a:reflection blurRad="12700" stA="38000" endPos="28000" dist="5000" dir="5400000" sy="-100000" algn="bl" rotWithShape="0"/>
          </a:effectLst>
        </p:spPr>
      </p:pic>
      <p:sp>
        <p:nvSpPr>
          <p:cNvPr id="21" name="Rectangle 20"/>
          <p:cNvSpPr/>
          <p:nvPr/>
        </p:nvSpPr>
        <p:spPr>
          <a:xfrm>
            <a:off x="5659082" y="3554037"/>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RESPECT</a:t>
            </a:r>
          </a:p>
          <a:p>
            <a:endParaRPr lang="fr-FR"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9138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 name="Rectangle 1"/>
          <p:cNvSpPr/>
          <p:nvPr/>
        </p:nvSpPr>
        <p:spPr>
          <a:xfrm>
            <a:off x="5514030" y="3782349"/>
            <a:ext cx="4473262" cy="1347485"/>
          </a:xfrm>
          <a:prstGeom prst="rect">
            <a:avLst/>
          </a:prstGeom>
        </p:spPr>
        <p:txBody>
          <a:bodyPr wrap="square">
            <a:spAutoFit/>
          </a:bodyPr>
          <a:lstStyle/>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La proactivite  </a:t>
            </a:r>
            <a:r>
              <a:rPr lang="fr-FR" sz="1400" b="1">
                <a:effectLst/>
                <a:latin typeface="Times New Roman" panose="02020603050405020304" pitchFamily="18" charset="0"/>
                <a:ea typeface="Calibri" panose="020F0502020204030204" pitchFamily="34" charset="0"/>
                <a:cs typeface="Times New Roman" panose="02020603050405020304" pitchFamily="18" charset="0"/>
              </a:rPr>
              <a:t>est appréciée </a:t>
            </a: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par AYCM  comme la capacite à  prendre des initiatives  pour le bien  non seulement de tous mais aussi et surtout pour AYCM.</a:t>
            </a:r>
          </a:p>
          <a:p>
            <a:pPr>
              <a:lnSpc>
                <a:spcPct val="107000"/>
              </a:lnSpc>
              <a:spcAft>
                <a:spcPts val="800"/>
              </a:spcAft>
            </a:pPr>
            <a:r>
              <a:rPr lang="fr-FR" sz="1400" b="1" dirty="0">
                <a:effectLst/>
                <a:latin typeface="Times New Roman" panose="02020603050405020304" pitchFamily="18" charset="0"/>
                <a:ea typeface="Calibri" panose="020F0502020204030204" pitchFamily="34" charset="0"/>
                <a:cs typeface="Times New Roman" panose="02020603050405020304" pitchFamily="18" charset="0"/>
              </a:rPr>
              <a:t> Ainsi AYCM voit tous son interet futuriste en des militants d’action positive, qualitative et quantitative. </a:t>
            </a:r>
          </a:p>
        </p:txBody>
      </p:sp>
      <p:sp>
        <p:nvSpPr>
          <p:cNvPr id="21" name="Rectangle 20"/>
          <p:cNvSpPr/>
          <p:nvPr/>
        </p:nvSpPr>
        <p:spPr>
          <a:xfrm>
            <a:off x="5514030" y="3520739"/>
            <a:ext cx="1573168" cy="523220"/>
          </a:xfrm>
          <a:prstGeom prst="rect">
            <a:avLst/>
          </a:prstGeom>
        </p:spPr>
        <p:txBody>
          <a:bodyPr wrap="square">
            <a:spAutoFit/>
          </a:bodyPr>
          <a:lstStyle/>
          <a:p>
            <a:r>
              <a:rPr lang="fr-FR" sz="1400" b="1" dirty="0">
                <a:solidFill>
                  <a:schemeClr val="accent6">
                    <a:lumMod val="50000"/>
                  </a:schemeClr>
                </a:solidFill>
                <a:latin typeface="Times New Roman" panose="02020603050405020304" pitchFamily="18" charset="0"/>
                <a:cs typeface="Times New Roman" panose="02020603050405020304" pitchFamily="18" charset="0"/>
              </a:rPr>
              <a:t>PROACTIVITE</a:t>
            </a:r>
          </a:p>
          <a:p>
            <a:endParaRPr lang="fr-FR" sz="14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8223" y="2538095"/>
            <a:ext cx="3080596" cy="32258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7722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635617" cy="68580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1191741" y="1"/>
            <a:ext cx="485104" cy="685799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Organigramme : Connecteur 5"/>
          <p:cNvSpPr/>
          <p:nvPr/>
        </p:nvSpPr>
        <p:spPr>
          <a:xfrm>
            <a:off x="10991044"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Connecteur 6"/>
          <p:cNvSpPr/>
          <p:nvPr/>
        </p:nvSpPr>
        <p:spPr>
          <a:xfrm>
            <a:off x="10966897" y="538768"/>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Connecteur 7"/>
          <p:cNvSpPr/>
          <p:nvPr/>
        </p:nvSpPr>
        <p:spPr>
          <a:xfrm>
            <a:off x="1168221" y="4456092"/>
            <a:ext cx="934792" cy="927278"/>
          </a:xfrm>
          <a:prstGeom prst="flowChartConnector">
            <a:avLst/>
          </a:prstGeom>
          <a:solidFill>
            <a:schemeClr val="accent6">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rganigramme : Connecteur 8"/>
          <p:cNvSpPr/>
          <p:nvPr/>
        </p:nvSpPr>
        <p:spPr>
          <a:xfrm>
            <a:off x="11176647" y="2797936"/>
            <a:ext cx="563586" cy="576330"/>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1272728" y="6168980"/>
            <a:ext cx="563586" cy="56774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rot="5400000" flipH="1" flipV="1">
            <a:off x="-1349814" y="3204694"/>
            <a:ext cx="4101278" cy="62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AFRICAN YOUTH CHANGE MAKERS</a:t>
            </a:r>
          </a:p>
        </p:txBody>
      </p:sp>
      <p:sp>
        <p:nvSpPr>
          <p:cNvPr id="12" name="Organigramme : Connecteur 11"/>
          <p:cNvSpPr/>
          <p:nvPr/>
        </p:nvSpPr>
        <p:spPr>
          <a:xfrm>
            <a:off x="11562947" y="978794"/>
            <a:ext cx="314595" cy="344511"/>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10846560" y="4760889"/>
            <a:ext cx="448212" cy="474374"/>
          </a:xfrm>
          <a:prstGeom prst="flowChartConnector">
            <a:avLst/>
          </a:prstGeom>
          <a:solidFill>
            <a:schemeClr val="tx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C:\Users\USER\Desktop\AYCM Medias\Créas AYCM\20230522_16304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711" y="25758"/>
            <a:ext cx="1189355" cy="1241425"/>
          </a:xfrm>
          <a:prstGeom prst="rect">
            <a:avLst/>
          </a:prstGeom>
          <a:noFill/>
          <a:ln>
            <a:noFill/>
          </a:ln>
        </p:spPr>
      </p:pic>
      <p:sp>
        <p:nvSpPr>
          <p:cNvPr id="15" name="Rectangle 14"/>
          <p:cNvSpPr/>
          <p:nvPr/>
        </p:nvSpPr>
        <p:spPr>
          <a:xfrm>
            <a:off x="2668004" y="323255"/>
            <a:ext cx="4123055" cy="646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b="1" dirty="0">
                <a:solidFill>
                  <a:srgbClr val="385623"/>
                </a:solidFill>
                <a:effectLst/>
                <a:latin typeface="Bodoni MT Black" panose="02070A03080606020203" pitchFamily="18" charset="0"/>
                <a:ea typeface="Calibri" panose="020F0502020204030204" pitchFamily="34" charset="0"/>
                <a:cs typeface="Times New Roman" panose="02020603050405020304" pitchFamily="18" charset="0"/>
              </a:rPr>
              <a:t>AYCM is an African international youth organization aiming at bringing positive transformation through observable actions</a:t>
            </a:r>
            <a:endParaRPr lang="fr-FR" sz="1100" dirty="0">
              <a:effectLst/>
              <a:ea typeface="Calibri" panose="020F0502020204030204" pitchFamily="34" charset="0"/>
              <a:cs typeface="Times New Roman" panose="02020603050405020304" pitchFamily="18" charset="0"/>
            </a:endParaRPr>
          </a:p>
        </p:txBody>
      </p:sp>
      <p:sp>
        <p:nvSpPr>
          <p:cNvPr id="16" name="Rectangle 15"/>
          <p:cNvSpPr/>
          <p:nvPr/>
        </p:nvSpPr>
        <p:spPr>
          <a:xfrm>
            <a:off x="6806153" y="310237"/>
            <a:ext cx="4123055" cy="672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100" b="1">
                <a:solidFill>
                  <a:srgbClr val="000000"/>
                </a:solidFill>
                <a:effectLst/>
                <a:latin typeface="Bodoni MT Black" panose="02070A03080606020203" pitchFamily="18" charset="0"/>
                <a:ea typeface="Calibri" panose="020F0502020204030204" pitchFamily="34" charset="0"/>
                <a:cs typeface="Times New Roman" panose="02020603050405020304" pitchFamily="18" charset="0"/>
              </a:rPr>
              <a:t>L’AYCM est une association internationale  de jeunes Africains visant à apporter la transformation positive  à travers des actions concrètes</a:t>
            </a:r>
            <a:endParaRPr lang="fr-FR" sz="1100">
              <a:effectLst/>
              <a:ea typeface="Calibri" panose="020F0502020204030204" pitchFamily="34" charset="0"/>
              <a:cs typeface="Times New Roman" panose="02020603050405020304" pitchFamily="18" charset="0"/>
            </a:endParaRPr>
          </a:p>
        </p:txBody>
      </p:sp>
      <p:sp>
        <p:nvSpPr>
          <p:cNvPr id="17" name="Rectangle 16"/>
          <p:cNvSpPr/>
          <p:nvPr/>
        </p:nvSpPr>
        <p:spPr>
          <a:xfrm rot="5400000" flipH="1">
            <a:off x="6399674" y="-3039775"/>
            <a:ext cx="45719" cy="876696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p:cNvPicPr>
            <a:picLocks noChangeAspect="1"/>
          </p:cNvPicPr>
          <p:nvPr/>
        </p:nvPicPr>
        <p:blipFill>
          <a:blip r:embed="rId3" cstate="print">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623933" y="5763903"/>
            <a:ext cx="2407276" cy="882668"/>
          </a:xfrm>
          <a:prstGeom prst="rect">
            <a:avLst/>
          </a:prstGeom>
        </p:spPr>
      </p:pic>
      <p:sp>
        <p:nvSpPr>
          <p:cNvPr id="20" name="Rectangle 19"/>
          <p:cNvSpPr/>
          <p:nvPr/>
        </p:nvSpPr>
        <p:spPr>
          <a:xfrm>
            <a:off x="5319893" y="6176261"/>
            <a:ext cx="2988832" cy="369332"/>
          </a:xfrm>
          <a:prstGeom prst="rect">
            <a:avLst/>
          </a:prstGeom>
        </p:spPr>
        <p:txBody>
          <a:bodyPr wrap="none">
            <a:spAutoFit/>
          </a:bodyPr>
          <a:lstStyle/>
          <a:p>
            <a:r>
              <a:rPr lang="fr-FR" b="1" dirty="0">
                <a:solidFill>
                  <a:srgbClr val="002060"/>
                </a:solidFill>
              </a:rPr>
              <a:t>African Youth Change Makers</a:t>
            </a:r>
          </a:p>
        </p:txBody>
      </p:sp>
      <p:sp>
        <p:nvSpPr>
          <p:cNvPr id="21" name="Rectangle 20"/>
          <p:cNvSpPr/>
          <p:nvPr/>
        </p:nvSpPr>
        <p:spPr>
          <a:xfrm>
            <a:off x="4310397" y="3447997"/>
            <a:ext cx="4473262" cy="1014380"/>
          </a:xfrm>
          <a:prstGeom prst="rect">
            <a:avLst/>
          </a:prstGeom>
        </p:spPr>
        <p:txBody>
          <a:bodyPr wrap="square">
            <a:spAutoFit/>
          </a:bodyPr>
          <a:lstStyle/>
          <a:p>
            <a:pPr>
              <a:lnSpc>
                <a:spcPct val="107000"/>
              </a:lnSpc>
              <a:spcAft>
                <a:spcPts val="800"/>
              </a:spcAft>
            </a:pPr>
            <a:r>
              <a:rPr lang="fr-FR" sz="2800" b="1" dirty="0">
                <a:effectLst/>
                <a:latin typeface="Times New Roman" panose="02020603050405020304" pitchFamily="18" charset="0"/>
                <a:ea typeface="Calibri" panose="020F0502020204030204" pitchFamily="34" charset="0"/>
                <a:cs typeface="Times New Roman" panose="02020603050405020304" pitchFamily="18" charset="0"/>
              </a:rPr>
              <a:t> MERCI POUR VOTRE AIMABLE ATTENTION </a:t>
            </a:r>
          </a:p>
        </p:txBody>
      </p:sp>
    </p:spTree>
    <p:extLst>
      <p:ext uri="{BB962C8B-B14F-4D97-AF65-F5344CB8AC3E}">
        <p14:creationId xmlns:p14="http://schemas.microsoft.com/office/powerpoint/2010/main" val="42602619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841</Words>
  <Application>Microsoft Office PowerPoint</Application>
  <PresentationFormat>Grand écran</PresentationFormat>
  <Paragraphs>65</Paragraphs>
  <Slides>10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Arial</vt:lpstr>
      <vt:lpstr>Bodoni MT Black</vt:lpstr>
      <vt:lpstr>Calibri</vt:lpstr>
      <vt:lpstr>Calibri Light</vt:lpstr>
      <vt:lpstr>Symbol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Yao Israël KRA</cp:lastModifiedBy>
  <cp:revision>38</cp:revision>
  <dcterms:created xsi:type="dcterms:W3CDTF">2023-07-02T18:05:52Z</dcterms:created>
  <dcterms:modified xsi:type="dcterms:W3CDTF">2024-08-20T16:43:58Z</dcterms:modified>
</cp:coreProperties>
</file>